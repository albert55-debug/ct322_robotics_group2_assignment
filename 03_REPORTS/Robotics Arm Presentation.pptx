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00503000000020004" pitchFamily="2" charset="0"/>
      <p:regular r:id="rId9"/>
      <p:bold r:id="rId10"/>
      <p:italic r:id="rId11"/>
      <p:boldItalic r:id="rId12"/>
    </p:embeddedFont>
    <p:embeddedFont>
      <p:font typeface="Inter Medium" panose="02000503000000020004" pitchFamily="2" charset="0"/>
      <p:regular r:id="rId13"/>
      <p:bold r:id="rId14"/>
      <p:italic r:id="rId15"/>
      <p:boldItalic r:id="rId16"/>
    </p:embeddedFont>
    <p:embeddedFont>
      <p:font typeface="Inter SemiBold" panose="02000503000000020004" pitchFamily="2" charset="0"/>
      <p:regular r:id="rId17"/>
      <p:bold r:id="rId18"/>
      <p:italic r:id="rId19"/>
      <p:boldItalic r:id="rId20"/>
    </p:embeddedFont>
    <p:embeddedFont>
      <p:font typeface="Poppins" panose="020B0502040504020204" pitchFamily="34" charset="0"/>
      <p:regular r:id="rId21"/>
      <p:bold r:id="rId22"/>
      <p:italic r:id="rId23"/>
      <p:boldItalic r:id="rId24"/>
    </p:embeddedFont>
    <p:embeddedFont>
      <p:font typeface="Poppins SemiBold" panose="020B050204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13" Type="http://schemas.openxmlformats.org/officeDocument/2006/relationships/font" Target="fonts/font5.fntdata" /><Relationship Id="rId18" Type="http://schemas.openxmlformats.org/officeDocument/2006/relationships/font" Target="fonts/font10.fntdata" /><Relationship Id="rId26" Type="http://schemas.openxmlformats.org/officeDocument/2006/relationships/font" Target="fonts/font18.fntdata" /><Relationship Id="rId3" Type="http://schemas.openxmlformats.org/officeDocument/2006/relationships/slide" Target="slides/slide2.xml" /><Relationship Id="rId21" Type="http://schemas.openxmlformats.org/officeDocument/2006/relationships/font" Target="fonts/font13.fntdata" /><Relationship Id="rId7" Type="http://schemas.openxmlformats.org/officeDocument/2006/relationships/slide" Target="slides/slide6.xml" /><Relationship Id="rId12" Type="http://schemas.openxmlformats.org/officeDocument/2006/relationships/font" Target="fonts/font4.fntdata" /><Relationship Id="rId17" Type="http://schemas.openxmlformats.org/officeDocument/2006/relationships/font" Target="fonts/font9.fntdata" /><Relationship Id="rId25" Type="http://schemas.openxmlformats.org/officeDocument/2006/relationships/font" Target="fonts/font17.fntdata" /><Relationship Id="rId2" Type="http://schemas.openxmlformats.org/officeDocument/2006/relationships/slide" Target="slides/slide1.xml" /><Relationship Id="rId16" Type="http://schemas.openxmlformats.org/officeDocument/2006/relationships/font" Target="fonts/font8.fntdata" /><Relationship Id="rId20" Type="http://schemas.openxmlformats.org/officeDocument/2006/relationships/font" Target="fonts/font12.fntdata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3.fntdata" /><Relationship Id="rId24" Type="http://schemas.openxmlformats.org/officeDocument/2006/relationships/font" Target="fonts/font16.fntdata" /><Relationship Id="rId32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font" Target="fonts/font7.fntdata" /><Relationship Id="rId23" Type="http://schemas.openxmlformats.org/officeDocument/2006/relationships/font" Target="fonts/font15.fntdata" /><Relationship Id="rId28" Type="http://schemas.openxmlformats.org/officeDocument/2006/relationships/font" Target="fonts/font20.fntdata" /><Relationship Id="rId10" Type="http://schemas.openxmlformats.org/officeDocument/2006/relationships/font" Target="fonts/font2.fntdata" /><Relationship Id="rId19" Type="http://schemas.openxmlformats.org/officeDocument/2006/relationships/font" Target="fonts/font11.fntdata" /><Relationship Id="rId31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font" Target="fonts/font1.fntdata" /><Relationship Id="rId14" Type="http://schemas.openxmlformats.org/officeDocument/2006/relationships/font" Target="fonts/font6.fntdata" /><Relationship Id="rId22" Type="http://schemas.openxmlformats.org/officeDocument/2006/relationships/font" Target="fonts/font14.fntdata" /><Relationship Id="rId27" Type="http://schemas.openxmlformats.org/officeDocument/2006/relationships/font" Target="fonts/font19.fntdata" /><Relationship Id="rId30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 /><Relationship Id="rId3" Type="http://schemas.openxmlformats.org/officeDocument/2006/relationships/image" Target="../media/image4.png" /><Relationship Id="rId7" Type="http://schemas.openxmlformats.org/officeDocument/2006/relationships/image" Target="../media/image8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1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tmp" /><Relationship Id="rId5" Type="http://schemas.openxmlformats.org/officeDocument/2006/relationships/image" Target="../media/image7.png" /><Relationship Id="rId4" Type="http://schemas.openxmlformats.org/officeDocument/2006/relationships/image" Target="../media/image10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4.tmp" /><Relationship Id="rId4" Type="http://schemas.openxmlformats.org/officeDocument/2006/relationships/image" Target="../media/image13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1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7.png" /><Relationship Id="rId4" Type="http://schemas.openxmlformats.org/officeDocument/2006/relationships/image" Target="../media/image10.png" /><Relationship Id="rId9" Type="http://schemas.openxmlformats.org/officeDocument/2006/relationships/image" Target="../media/image1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3420367"/>
            <a:ext cx="76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076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95437" y="2052637"/>
            <a:ext cx="9001125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2-DOF Tabletop Articulated Robotic Arm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3706117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Solid modeling &amp; Multi-joint Trajectory Simulation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4296667"/>
            <a:ext cx="85725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DEPARTMENT OF ELECTRICAL AND COMPUTER SYSTEMS ENGINEERING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6143476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UNIVERSITY OF DODOMA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879210" y="6143476"/>
            <a:ext cx="155078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COURSEWORK PHASE 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65164"/>
            <a:ext cx="5143500" cy="286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65164"/>
            <a:ext cx="5143500" cy="2861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6143625"/>
            <a:ext cx="111263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CLASSIFICATION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87930" y="6143625"/>
            <a:ext cx="842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2 OF 6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7275" y="3027164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Mechanical Configuration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3027164"/>
            <a:ext cx="47805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Coursework Requirements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589014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247775" y="3474839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Class: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Articulated Robotic Arm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247775" y="3813869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Configuration: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Revolute-Revolute (RR) system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47775" y="4152900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Workspace: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Planar positional tracking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47775" y="4491930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Footprint: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Sleek tabletop design for lab evaluation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58901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772275" y="3474839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Degrees of Freedom: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2 Active angular joints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72275" y="3813869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fidelity dynamic translation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72275" y="4152900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Interfacing: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SolidWorks CAD to MATLAB Simscape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772275" y="4491930"/>
            <a:ext cx="4362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Simulink Setup: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Signal-driven joint controller loops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47775" y="3474839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47775" y="3813869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47775" y="4152900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47775" y="4491930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772275" y="3474839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772275" y="3813869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772275" y="4152900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72275" y="4491930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Classification &amp; Strategy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1386" y="1885950"/>
            <a:ext cx="5338613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62000" y="6143625"/>
            <a:ext cx="141163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ANATOMY OVERVIEW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578405" y="6143625"/>
            <a:ext cx="8515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3 OF 6</a:t>
            </a:r>
            <a:endParaRPr/>
          </a:p>
        </p:txBody>
      </p:sp>
      <p:pic>
        <p:nvPicPr>
          <p:cNvPr id="133" name="Google Shape;133;p15"/>
          <p:cNvPicPr preferRelativeResize="0"/>
          <p:nvPr/>
        </p:nvPicPr>
        <p:blipFill rotWithShape="1">
          <a:blip r:embed="rId6"/>
          <a:srcRect t="4541" b="4541"/>
          <a:stretch/>
        </p:blipFill>
        <p:spPr>
          <a:xfrm>
            <a:off x="6100911" y="1895475"/>
            <a:ext cx="531956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047750" y="2613868"/>
            <a:ext cx="4567386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 Plate &amp; Fixed Stand: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Solid cylindrical base (</a:t>
            </a:r>
            <a:r>
              <a:rPr lang="en-US" sz="1200" b="0" i="0" u="none" strike="noStrike" cap="non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Red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and orthogonal vertical pillar (</a:t>
            </a:r>
            <a:r>
              <a:rPr lang="en-US" sz="120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Dark Gray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serving as the absolute reference anchor.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047750" y="3497609"/>
            <a:ext cx="4567386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Co-axial Links: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Sleek tapered Link 1 &amp; Link 2 (</a:t>
            </a:r>
            <a:r>
              <a:rPr lang="en-US" sz="1200" b="0" i="0" u="none" strike="noStrike" cap="non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Blue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configured to uniformly disperse loads and reduce rotational inertia.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47750" y="4137570"/>
            <a:ext cx="4567386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Circular Tool Cup: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Parallel terminal structure modeled precisely to house tools or support gripper mechanics.</a:t>
            </a:r>
            <a:endParaRPr/>
          </a:p>
        </p:txBody>
      </p:sp>
      <p:pic>
        <p:nvPicPr>
          <p:cNvPr id="137" name="Google Shape;13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63768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52142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161383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Mechanical Structure &amp; Anatomy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991225"/>
            <a:ext cx="528637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762000" y="571500"/>
            <a:ext cx="535066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Simscape Import Protocol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47625" cy="5429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5"/>
          <a:srcRect l="10834" r="10834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71500" y="6143625"/>
            <a:ext cx="16668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CAD TO MATLAB IMPORT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006280" y="6143625"/>
            <a:ext cx="8515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4 OF 6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71500" y="2500312"/>
            <a:ext cx="555069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Bridging CAD and Physics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71500" y="2947987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SolidWorks assembly is compiled directly into a rich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XML structural script</a:t>
            </a: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via the Simscape Multibody Link plugin.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3519487"/>
            <a:ext cx="52863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executing smimport(), the software automatically establishes rigid masses, spatial coordinates, 3D geometry profiles, and localized inertia parameters.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4319587"/>
            <a:ext cx="52863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avoids manually drawing the system and allows immediate simulation of gravitational forces and joint load torques.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1386" y="1885950"/>
            <a:ext cx="5338613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762000" y="6143625"/>
            <a:ext cx="17145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CONTROL ARCHITECTURE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587930" y="6143625"/>
            <a:ext cx="842069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5 OF 6</a:t>
            </a:r>
            <a:endParaRPr/>
          </a:p>
        </p:txBody>
      </p:sp>
      <p:pic>
        <p:nvPicPr>
          <p:cNvPr id="166" name="Google Shape;166;p17" title="Screenshot 2026-07-12 202031.png"/>
          <p:cNvPicPr preferRelativeResize="0"/>
          <p:nvPr/>
        </p:nvPicPr>
        <p:blipFill rotWithShape="1">
          <a:blip r:embed="rId6">
            <a:alphaModFix/>
          </a:blip>
          <a:srcRect l="15176" r="15176"/>
          <a:stretch/>
        </p:blipFill>
        <p:spPr>
          <a:xfrm>
            <a:off x="6100911" y="1895475"/>
            <a:ext cx="531956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095375" y="2613868"/>
            <a:ext cx="4519761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Active Actuation: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Revolute Joint blocks are switched to </a:t>
            </a:r>
            <a:r>
              <a:rPr lang="en-US" sz="12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Provided by Input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accept custom trajectory streams.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47750" y="3253829"/>
            <a:ext cx="4567386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Simulink-PS Converter: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Converts raw computational signals to true physics values explicitly designated as rad (radians).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95375" y="3893790"/>
            <a:ext cx="4519761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Multi-Joint Trajectory: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Joint 1 (Shoulder) is driven by a steady linear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Ramp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while Joint 2 (Elbow) is swept via a smooth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Sine Wave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signal generator.</a:t>
            </a:r>
            <a:endParaRPr/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63768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27764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3917602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952500" y="571500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Simulink Control Architecture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762000" y="571500"/>
            <a:ext cx="47625" cy="5429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99122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2095500" y="2180332"/>
            <a:ext cx="8001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2286000" y="3285232"/>
            <a:ext cx="76200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combining clean mechanical design within SolidWorks and real-time physical simulation in MATLAB Simscape Multibody, we successfully demonstrated realistic structural constraints and smooth multi-axis trajectory control profiles.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6143625"/>
            <a:ext cx="8858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578405" y="6143625"/>
            <a:ext cx="85159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6 OF 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ALBERT NORBERT</cp:lastModifiedBy>
  <cp:revision>1</cp:revision>
  <dcterms:modified xsi:type="dcterms:W3CDTF">2026-07-18T13:32:05Z</dcterms:modified>
</cp:coreProperties>
</file>